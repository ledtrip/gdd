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7" r:id="rId2"/>
    <p:sldId id="273" r:id="rId3"/>
    <p:sldId id="264" r:id="rId4"/>
    <p:sldId id="261" r:id="rId5"/>
    <p:sldId id="263" r:id="rId6"/>
    <p:sldId id="262" r:id="rId7"/>
    <p:sldId id="266" r:id="rId8"/>
    <p:sldId id="267" r:id="rId9"/>
    <p:sldId id="271" r:id="rId10"/>
    <p:sldId id="268" r:id="rId11"/>
    <p:sldId id="270" r:id="rId12"/>
    <p:sldId id="269" r:id="rId13"/>
    <p:sldId id="27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410"/>
    <p:restoredTop sz="94664"/>
  </p:normalViewPr>
  <p:slideViewPr>
    <p:cSldViewPr snapToGrid="0">
      <p:cViewPr varScale="1">
        <p:scale>
          <a:sx n="90" d="100"/>
          <a:sy n="90" d="100"/>
        </p:scale>
        <p:origin x="240" y="13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72455B-0E40-494C-BC37-C2111DD3455C}" type="datetimeFigureOut">
              <a:rPr lang="en-US" smtClean="0"/>
              <a:t>12/14/25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A64017-A597-D141-89A5-D00D41473539}" type="slidenum">
              <a:rPr lang="en-US" smtClean="0"/>
              <a:t>‹#›</a:t>
            </a:fld>
            <a:endParaRPr lang="en-US"/>
          </a:p>
        </p:txBody>
      </p:sp>
    </p:spTree>
    <p:extLst>
      <p:ext uri="{BB962C8B-B14F-4D97-AF65-F5344CB8AC3E}">
        <p14:creationId xmlns:p14="http://schemas.microsoft.com/office/powerpoint/2010/main" val="3673987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CA64017-A597-D141-89A5-D00D41473539}" type="slidenum">
              <a:rPr lang="en-US" smtClean="0"/>
              <a:t>8</a:t>
            </a:fld>
            <a:endParaRPr lang="en-US"/>
          </a:p>
        </p:txBody>
      </p:sp>
    </p:spTree>
    <p:extLst>
      <p:ext uri="{BB962C8B-B14F-4D97-AF65-F5344CB8AC3E}">
        <p14:creationId xmlns:p14="http://schemas.microsoft.com/office/powerpoint/2010/main" val="26870527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B088E-7708-519E-933E-8A334350C1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87702BA-369B-89DE-2A09-6CAD86B214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CC9F2F4-6006-3D6E-5C56-BA4DA7997729}"/>
              </a:ext>
            </a:extLst>
          </p:cNvPr>
          <p:cNvSpPr>
            <a:spLocks noGrp="1"/>
          </p:cNvSpPr>
          <p:nvPr>
            <p:ph type="dt" sz="half" idx="10"/>
          </p:nvPr>
        </p:nvSpPr>
        <p:spPr/>
        <p:txBody>
          <a:bodyPr/>
          <a:lstStyle/>
          <a:p>
            <a:fld id="{2F09C9A7-9A88-EF48-BA8E-1C2C10DFF4C5}" type="datetimeFigureOut">
              <a:rPr lang="en-US" smtClean="0"/>
              <a:t>12/14/25</a:t>
            </a:fld>
            <a:endParaRPr lang="en-US"/>
          </a:p>
        </p:txBody>
      </p:sp>
      <p:sp>
        <p:nvSpPr>
          <p:cNvPr id="5" name="Footer Placeholder 4">
            <a:extLst>
              <a:ext uri="{FF2B5EF4-FFF2-40B4-BE49-F238E27FC236}">
                <a16:creationId xmlns:a16="http://schemas.microsoft.com/office/drawing/2014/main" id="{A0263EEF-8129-0611-1ACD-77C75E226C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5BCF6E-9C24-1217-8E39-10463FA0F497}"/>
              </a:ext>
            </a:extLst>
          </p:cNvPr>
          <p:cNvSpPr>
            <a:spLocks noGrp="1"/>
          </p:cNvSpPr>
          <p:nvPr>
            <p:ph type="sldNum" sz="quarter" idx="12"/>
          </p:nvPr>
        </p:nvSpPr>
        <p:spPr/>
        <p:txBody>
          <a:bodyPr/>
          <a:lstStyle/>
          <a:p>
            <a:fld id="{04D5ABDD-CA4E-0D4A-A737-5DB3A89FFA5D}" type="slidenum">
              <a:rPr lang="en-US" smtClean="0"/>
              <a:t>‹#›</a:t>
            </a:fld>
            <a:endParaRPr lang="en-US"/>
          </a:p>
        </p:txBody>
      </p:sp>
    </p:spTree>
    <p:extLst>
      <p:ext uri="{BB962C8B-B14F-4D97-AF65-F5344CB8AC3E}">
        <p14:creationId xmlns:p14="http://schemas.microsoft.com/office/powerpoint/2010/main" val="1648050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4555D-CE47-4413-FA34-E939101043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AB59EC-5D4B-D5FC-00A1-B8D9414E14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3BDC59-3F5A-BE17-FA7F-E465696C8D6E}"/>
              </a:ext>
            </a:extLst>
          </p:cNvPr>
          <p:cNvSpPr>
            <a:spLocks noGrp="1"/>
          </p:cNvSpPr>
          <p:nvPr>
            <p:ph type="dt" sz="half" idx="10"/>
          </p:nvPr>
        </p:nvSpPr>
        <p:spPr/>
        <p:txBody>
          <a:bodyPr/>
          <a:lstStyle/>
          <a:p>
            <a:fld id="{2F09C9A7-9A88-EF48-BA8E-1C2C10DFF4C5}" type="datetimeFigureOut">
              <a:rPr lang="en-US" smtClean="0"/>
              <a:t>12/14/25</a:t>
            </a:fld>
            <a:endParaRPr lang="en-US"/>
          </a:p>
        </p:txBody>
      </p:sp>
      <p:sp>
        <p:nvSpPr>
          <p:cNvPr id="5" name="Footer Placeholder 4">
            <a:extLst>
              <a:ext uri="{FF2B5EF4-FFF2-40B4-BE49-F238E27FC236}">
                <a16:creationId xmlns:a16="http://schemas.microsoft.com/office/drawing/2014/main" id="{4A8DC4CC-2BBC-3A7B-BEC7-ACF45A3EAA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1F4F51-3DC0-5112-9301-39BCFC984DFB}"/>
              </a:ext>
            </a:extLst>
          </p:cNvPr>
          <p:cNvSpPr>
            <a:spLocks noGrp="1"/>
          </p:cNvSpPr>
          <p:nvPr>
            <p:ph type="sldNum" sz="quarter" idx="12"/>
          </p:nvPr>
        </p:nvSpPr>
        <p:spPr/>
        <p:txBody>
          <a:bodyPr/>
          <a:lstStyle/>
          <a:p>
            <a:fld id="{04D5ABDD-CA4E-0D4A-A737-5DB3A89FFA5D}" type="slidenum">
              <a:rPr lang="en-US" smtClean="0"/>
              <a:t>‹#›</a:t>
            </a:fld>
            <a:endParaRPr lang="en-US"/>
          </a:p>
        </p:txBody>
      </p:sp>
    </p:spTree>
    <p:extLst>
      <p:ext uri="{BB962C8B-B14F-4D97-AF65-F5344CB8AC3E}">
        <p14:creationId xmlns:p14="http://schemas.microsoft.com/office/powerpoint/2010/main" val="2256946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8B8C9-028A-C694-53E6-CDBCC2AF67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DB95486-AC4C-69B3-D12D-9A57FCECB41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BC6F94-49D2-5CFD-62DF-522672E4E020}"/>
              </a:ext>
            </a:extLst>
          </p:cNvPr>
          <p:cNvSpPr>
            <a:spLocks noGrp="1"/>
          </p:cNvSpPr>
          <p:nvPr>
            <p:ph type="dt" sz="half" idx="10"/>
          </p:nvPr>
        </p:nvSpPr>
        <p:spPr/>
        <p:txBody>
          <a:bodyPr/>
          <a:lstStyle/>
          <a:p>
            <a:fld id="{2F09C9A7-9A88-EF48-BA8E-1C2C10DFF4C5}" type="datetimeFigureOut">
              <a:rPr lang="en-US" smtClean="0"/>
              <a:t>12/14/25</a:t>
            </a:fld>
            <a:endParaRPr lang="en-US"/>
          </a:p>
        </p:txBody>
      </p:sp>
      <p:sp>
        <p:nvSpPr>
          <p:cNvPr id="5" name="Footer Placeholder 4">
            <a:extLst>
              <a:ext uri="{FF2B5EF4-FFF2-40B4-BE49-F238E27FC236}">
                <a16:creationId xmlns:a16="http://schemas.microsoft.com/office/drawing/2014/main" id="{595823EF-70C0-D46A-CEE6-7648670356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35FDE9-C462-EC73-E272-819B657CACBD}"/>
              </a:ext>
            </a:extLst>
          </p:cNvPr>
          <p:cNvSpPr>
            <a:spLocks noGrp="1"/>
          </p:cNvSpPr>
          <p:nvPr>
            <p:ph type="sldNum" sz="quarter" idx="12"/>
          </p:nvPr>
        </p:nvSpPr>
        <p:spPr/>
        <p:txBody>
          <a:bodyPr/>
          <a:lstStyle/>
          <a:p>
            <a:fld id="{04D5ABDD-CA4E-0D4A-A737-5DB3A89FFA5D}" type="slidenum">
              <a:rPr lang="en-US" smtClean="0"/>
              <a:t>‹#›</a:t>
            </a:fld>
            <a:endParaRPr lang="en-US"/>
          </a:p>
        </p:txBody>
      </p:sp>
    </p:spTree>
    <p:extLst>
      <p:ext uri="{BB962C8B-B14F-4D97-AF65-F5344CB8AC3E}">
        <p14:creationId xmlns:p14="http://schemas.microsoft.com/office/powerpoint/2010/main" val="3738639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FB7D2-65B4-B3C5-188B-C7DA839540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5532B3-4E22-9E8A-0B49-B505D4B4D9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3514CC-79FB-4ED7-0523-3F86511E04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F151602-6A38-E04A-2854-8E1EB00F43C6}"/>
              </a:ext>
            </a:extLst>
          </p:cNvPr>
          <p:cNvSpPr>
            <a:spLocks noGrp="1"/>
          </p:cNvSpPr>
          <p:nvPr>
            <p:ph type="dt" sz="half" idx="10"/>
          </p:nvPr>
        </p:nvSpPr>
        <p:spPr/>
        <p:txBody>
          <a:bodyPr/>
          <a:lstStyle/>
          <a:p>
            <a:fld id="{2F09C9A7-9A88-EF48-BA8E-1C2C10DFF4C5}" type="datetimeFigureOut">
              <a:rPr lang="en-US" smtClean="0"/>
              <a:t>12/14/25</a:t>
            </a:fld>
            <a:endParaRPr lang="en-US"/>
          </a:p>
        </p:txBody>
      </p:sp>
      <p:sp>
        <p:nvSpPr>
          <p:cNvPr id="6" name="Footer Placeholder 5">
            <a:extLst>
              <a:ext uri="{FF2B5EF4-FFF2-40B4-BE49-F238E27FC236}">
                <a16:creationId xmlns:a16="http://schemas.microsoft.com/office/drawing/2014/main" id="{734037D1-E552-A050-3E6F-9252C0FCA9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89C1EB-1FE4-69B0-3E2E-7D33AE1BDF6D}"/>
              </a:ext>
            </a:extLst>
          </p:cNvPr>
          <p:cNvSpPr>
            <a:spLocks noGrp="1"/>
          </p:cNvSpPr>
          <p:nvPr>
            <p:ph type="sldNum" sz="quarter" idx="12"/>
          </p:nvPr>
        </p:nvSpPr>
        <p:spPr/>
        <p:txBody>
          <a:bodyPr/>
          <a:lstStyle/>
          <a:p>
            <a:fld id="{04D5ABDD-CA4E-0D4A-A737-5DB3A89FFA5D}" type="slidenum">
              <a:rPr lang="en-US" smtClean="0"/>
              <a:t>‹#›</a:t>
            </a:fld>
            <a:endParaRPr lang="en-US"/>
          </a:p>
        </p:txBody>
      </p:sp>
    </p:spTree>
    <p:extLst>
      <p:ext uri="{BB962C8B-B14F-4D97-AF65-F5344CB8AC3E}">
        <p14:creationId xmlns:p14="http://schemas.microsoft.com/office/powerpoint/2010/main" val="56891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DFED7-8F7E-0C38-82E5-9F4879C6995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E60F4A2-0E20-E8A0-4B3A-347082A94A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46C5EF-64CA-D611-42C4-BEC2FBC416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2D678D5-CBC8-1F69-6849-ABB9C70C15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5B50AB-F65B-00D6-5CD7-2CD0B1E181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F9C42CD-32FA-E3E4-E518-60F26BB92213}"/>
              </a:ext>
            </a:extLst>
          </p:cNvPr>
          <p:cNvSpPr>
            <a:spLocks noGrp="1"/>
          </p:cNvSpPr>
          <p:nvPr>
            <p:ph type="dt" sz="half" idx="10"/>
          </p:nvPr>
        </p:nvSpPr>
        <p:spPr/>
        <p:txBody>
          <a:bodyPr/>
          <a:lstStyle/>
          <a:p>
            <a:fld id="{2F09C9A7-9A88-EF48-BA8E-1C2C10DFF4C5}" type="datetimeFigureOut">
              <a:rPr lang="en-US" smtClean="0"/>
              <a:t>12/14/25</a:t>
            </a:fld>
            <a:endParaRPr lang="en-US"/>
          </a:p>
        </p:txBody>
      </p:sp>
      <p:sp>
        <p:nvSpPr>
          <p:cNvPr id="8" name="Footer Placeholder 7">
            <a:extLst>
              <a:ext uri="{FF2B5EF4-FFF2-40B4-BE49-F238E27FC236}">
                <a16:creationId xmlns:a16="http://schemas.microsoft.com/office/drawing/2014/main" id="{5E3DBFF8-8F52-8DF5-460C-F29E30E569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DE07CA0-A694-4FDA-8617-B04D155EB92E}"/>
              </a:ext>
            </a:extLst>
          </p:cNvPr>
          <p:cNvSpPr>
            <a:spLocks noGrp="1"/>
          </p:cNvSpPr>
          <p:nvPr>
            <p:ph type="sldNum" sz="quarter" idx="12"/>
          </p:nvPr>
        </p:nvSpPr>
        <p:spPr/>
        <p:txBody>
          <a:bodyPr/>
          <a:lstStyle/>
          <a:p>
            <a:fld id="{04D5ABDD-CA4E-0D4A-A737-5DB3A89FFA5D}" type="slidenum">
              <a:rPr lang="en-US" smtClean="0"/>
              <a:t>‹#›</a:t>
            </a:fld>
            <a:endParaRPr lang="en-US"/>
          </a:p>
        </p:txBody>
      </p:sp>
    </p:spTree>
    <p:extLst>
      <p:ext uri="{BB962C8B-B14F-4D97-AF65-F5344CB8AC3E}">
        <p14:creationId xmlns:p14="http://schemas.microsoft.com/office/powerpoint/2010/main" val="33564448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E7095-A02C-6484-3520-638C200371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E3AA28-9C58-A4E2-C387-82F1700D42CC}"/>
              </a:ext>
            </a:extLst>
          </p:cNvPr>
          <p:cNvSpPr>
            <a:spLocks noGrp="1"/>
          </p:cNvSpPr>
          <p:nvPr>
            <p:ph type="dt" sz="half" idx="10"/>
          </p:nvPr>
        </p:nvSpPr>
        <p:spPr/>
        <p:txBody>
          <a:bodyPr/>
          <a:lstStyle/>
          <a:p>
            <a:fld id="{2F09C9A7-9A88-EF48-BA8E-1C2C10DFF4C5}" type="datetimeFigureOut">
              <a:rPr lang="en-US" smtClean="0"/>
              <a:t>12/14/25</a:t>
            </a:fld>
            <a:endParaRPr lang="en-US"/>
          </a:p>
        </p:txBody>
      </p:sp>
      <p:sp>
        <p:nvSpPr>
          <p:cNvPr id="4" name="Footer Placeholder 3">
            <a:extLst>
              <a:ext uri="{FF2B5EF4-FFF2-40B4-BE49-F238E27FC236}">
                <a16:creationId xmlns:a16="http://schemas.microsoft.com/office/drawing/2014/main" id="{53813F3E-58E0-A8B9-69CF-E4EBF2C0D9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0599A7-74FE-7453-465F-D06FC5ED8952}"/>
              </a:ext>
            </a:extLst>
          </p:cNvPr>
          <p:cNvSpPr>
            <a:spLocks noGrp="1"/>
          </p:cNvSpPr>
          <p:nvPr>
            <p:ph type="sldNum" sz="quarter" idx="12"/>
          </p:nvPr>
        </p:nvSpPr>
        <p:spPr/>
        <p:txBody>
          <a:bodyPr/>
          <a:lstStyle/>
          <a:p>
            <a:fld id="{04D5ABDD-CA4E-0D4A-A737-5DB3A89FFA5D}" type="slidenum">
              <a:rPr lang="en-US" smtClean="0"/>
              <a:t>‹#›</a:t>
            </a:fld>
            <a:endParaRPr lang="en-US"/>
          </a:p>
        </p:txBody>
      </p:sp>
    </p:spTree>
    <p:extLst>
      <p:ext uri="{BB962C8B-B14F-4D97-AF65-F5344CB8AC3E}">
        <p14:creationId xmlns:p14="http://schemas.microsoft.com/office/powerpoint/2010/main" val="2913249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A60517-74F3-C6FF-8DC0-A074B6C55F28}"/>
              </a:ext>
            </a:extLst>
          </p:cNvPr>
          <p:cNvSpPr>
            <a:spLocks noGrp="1"/>
          </p:cNvSpPr>
          <p:nvPr>
            <p:ph type="dt" sz="half" idx="10"/>
          </p:nvPr>
        </p:nvSpPr>
        <p:spPr/>
        <p:txBody>
          <a:bodyPr/>
          <a:lstStyle/>
          <a:p>
            <a:fld id="{2F09C9A7-9A88-EF48-BA8E-1C2C10DFF4C5}" type="datetimeFigureOut">
              <a:rPr lang="en-US" smtClean="0"/>
              <a:t>12/14/25</a:t>
            </a:fld>
            <a:endParaRPr lang="en-US"/>
          </a:p>
        </p:txBody>
      </p:sp>
      <p:sp>
        <p:nvSpPr>
          <p:cNvPr id="3" name="Footer Placeholder 2">
            <a:extLst>
              <a:ext uri="{FF2B5EF4-FFF2-40B4-BE49-F238E27FC236}">
                <a16:creationId xmlns:a16="http://schemas.microsoft.com/office/drawing/2014/main" id="{0F254AC2-9F61-A7CF-E804-C6C43AF42F3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CCE9AA-4E9F-2FE5-7B74-2AAF6E8F5B35}"/>
              </a:ext>
            </a:extLst>
          </p:cNvPr>
          <p:cNvSpPr>
            <a:spLocks noGrp="1"/>
          </p:cNvSpPr>
          <p:nvPr>
            <p:ph type="sldNum" sz="quarter" idx="12"/>
          </p:nvPr>
        </p:nvSpPr>
        <p:spPr/>
        <p:txBody>
          <a:bodyPr/>
          <a:lstStyle/>
          <a:p>
            <a:fld id="{04D5ABDD-CA4E-0D4A-A737-5DB3A89FFA5D}" type="slidenum">
              <a:rPr lang="en-US" smtClean="0"/>
              <a:t>‹#›</a:t>
            </a:fld>
            <a:endParaRPr lang="en-US"/>
          </a:p>
        </p:txBody>
      </p:sp>
    </p:spTree>
    <p:extLst>
      <p:ext uri="{BB962C8B-B14F-4D97-AF65-F5344CB8AC3E}">
        <p14:creationId xmlns:p14="http://schemas.microsoft.com/office/powerpoint/2010/main" val="2486365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2E465-C1F7-DF30-B100-794B07B7F6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24B068F-7C98-BB17-D3AF-FC2467819B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94CB9C9-8FB9-8E2B-CCF1-EB72DCB1B4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7FBC3D-7808-1A61-2BF6-1031561CEAB8}"/>
              </a:ext>
            </a:extLst>
          </p:cNvPr>
          <p:cNvSpPr>
            <a:spLocks noGrp="1"/>
          </p:cNvSpPr>
          <p:nvPr>
            <p:ph type="dt" sz="half" idx="10"/>
          </p:nvPr>
        </p:nvSpPr>
        <p:spPr/>
        <p:txBody>
          <a:bodyPr/>
          <a:lstStyle/>
          <a:p>
            <a:fld id="{2F09C9A7-9A88-EF48-BA8E-1C2C10DFF4C5}" type="datetimeFigureOut">
              <a:rPr lang="en-US" smtClean="0"/>
              <a:t>12/14/25</a:t>
            </a:fld>
            <a:endParaRPr lang="en-US"/>
          </a:p>
        </p:txBody>
      </p:sp>
      <p:sp>
        <p:nvSpPr>
          <p:cNvPr id="6" name="Footer Placeholder 5">
            <a:extLst>
              <a:ext uri="{FF2B5EF4-FFF2-40B4-BE49-F238E27FC236}">
                <a16:creationId xmlns:a16="http://schemas.microsoft.com/office/drawing/2014/main" id="{9CD1BA02-7109-229C-7550-6CBC4C8E07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4078E6-39F5-614A-568C-C802C67A1710}"/>
              </a:ext>
            </a:extLst>
          </p:cNvPr>
          <p:cNvSpPr>
            <a:spLocks noGrp="1"/>
          </p:cNvSpPr>
          <p:nvPr>
            <p:ph type="sldNum" sz="quarter" idx="12"/>
          </p:nvPr>
        </p:nvSpPr>
        <p:spPr/>
        <p:txBody>
          <a:bodyPr/>
          <a:lstStyle/>
          <a:p>
            <a:fld id="{04D5ABDD-CA4E-0D4A-A737-5DB3A89FFA5D}" type="slidenum">
              <a:rPr lang="en-US" smtClean="0"/>
              <a:t>‹#›</a:t>
            </a:fld>
            <a:endParaRPr lang="en-US"/>
          </a:p>
        </p:txBody>
      </p:sp>
    </p:spTree>
    <p:extLst>
      <p:ext uri="{BB962C8B-B14F-4D97-AF65-F5344CB8AC3E}">
        <p14:creationId xmlns:p14="http://schemas.microsoft.com/office/powerpoint/2010/main" val="3460079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F6DB9-6CD2-64DB-E520-F57829CFDD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29B91C3-533A-9DE0-C590-8441BACA81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097399-9C8D-4259-2158-E1AF27CADA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96C470-845C-E0BC-372E-D18D40D0A9AD}"/>
              </a:ext>
            </a:extLst>
          </p:cNvPr>
          <p:cNvSpPr>
            <a:spLocks noGrp="1"/>
          </p:cNvSpPr>
          <p:nvPr>
            <p:ph type="dt" sz="half" idx="10"/>
          </p:nvPr>
        </p:nvSpPr>
        <p:spPr/>
        <p:txBody>
          <a:bodyPr/>
          <a:lstStyle/>
          <a:p>
            <a:fld id="{2F09C9A7-9A88-EF48-BA8E-1C2C10DFF4C5}" type="datetimeFigureOut">
              <a:rPr lang="en-US" smtClean="0"/>
              <a:t>12/14/25</a:t>
            </a:fld>
            <a:endParaRPr lang="en-US"/>
          </a:p>
        </p:txBody>
      </p:sp>
      <p:sp>
        <p:nvSpPr>
          <p:cNvPr id="6" name="Footer Placeholder 5">
            <a:extLst>
              <a:ext uri="{FF2B5EF4-FFF2-40B4-BE49-F238E27FC236}">
                <a16:creationId xmlns:a16="http://schemas.microsoft.com/office/drawing/2014/main" id="{DD2AF39C-5AAA-B8A4-8DB1-4B48B4EC34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8B2B05-C626-F0FD-648B-78C9B6DB6129}"/>
              </a:ext>
            </a:extLst>
          </p:cNvPr>
          <p:cNvSpPr>
            <a:spLocks noGrp="1"/>
          </p:cNvSpPr>
          <p:nvPr>
            <p:ph type="sldNum" sz="quarter" idx="12"/>
          </p:nvPr>
        </p:nvSpPr>
        <p:spPr/>
        <p:txBody>
          <a:bodyPr/>
          <a:lstStyle/>
          <a:p>
            <a:fld id="{04D5ABDD-CA4E-0D4A-A737-5DB3A89FFA5D}" type="slidenum">
              <a:rPr lang="en-US" smtClean="0"/>
              <a:t>‹#›</a:t>
            </a:fld>
            <a:endParaRPr lang="en-US"/>
          </a:p>
        </p:txBody>
      </p:sp>
    </p:spTree>
    <p:extLst>
      <p:ext uri="{BB962C8B-B14F-4D97-AF65-F5344CB8AC3E}">
        <p14:creationId xmlns:p14="http://schemas.microsoft.com/office/powerpoint/2010/main" val="1977209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D09C0-949C-AB21-1F9E-2CD6BB2B7C7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B0EA1F9-E7C3-3E96-FE98-DA1F4E7856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AEC2EF-C000-C0C1-6C0A-80F251486973}"/>
              </a:ext>
            </a:extLst>
          </p:cNvPr>
          <p:cNvSpPr>
            <a:spLocks noGrp="1"/>
          </p:cNvSpPr>
          <p:nvPr>
            <p:ph type="dt" sz="half" idx="10"/>
          </p:nvPr>
        </p:nvSpPr>
        <p:spPr/>
        <p:txBody>
          <a:bodyPr/>
          <a:lstStyle/>
          <a:p>
            <a:fld id="{2F09C9A7-9A88-EF48-BA8E-1C2C10DFF4C5}" type="datetimeFigureOut">
              <a:rPr lang="en-US" smtClean="0"/>
              <a:t>12/14/25</a:t>
            </a:fld>
            <a:endParaRPr lang="en-US"/>
          </a:p>
        </p:txBody>
      </p:sp>
      <p:sp>
        <p:nvSpPr>
          <p:cNvPr id="5" name="Footer Placeholder 4">
            <a:extLst>
              <a:ext uri="{FF2B5EF4-FFF2-40B4-BE49-F238E27FC236}">
                <a16:creationId xmlns:a16="http://schemas.microsoft.com/office/drawing/2014/main" id="{2BA305E2-428D-C9F6-05F0-0BCD099A33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6F3290-7D76-FB0B-DDE9-750F0C04CD54}"/>
              </a:ext>
            </a:extLst>
          </p:cNvPr>
          <p:cNvSpPr>
            <a:spLocks noGrp="1"/>
          </p:cNvSpPr>
          <p:nvPr>
            <p:ph type="sldNum" sz="quarter" idx="12"/>
          </p:nvPr>
        </p:nvSpPr>
        <p:spPr/>
        <p:txBody>
          <a:bodyPr/>
          <a:lstStyle/>
          <a:p>
            <a:fld id="{04D5ABDD-CA4E-0D4A-A737-5DB3A89FFA5D}" type="slidenum">
              <a:rPr lang="en-US" smtClean="0"/>
              <a:t>‹#›</a:t>
            </a:fld>
            <a:endParaRPr lang="en-US"/>
          </a:p>
        </p:txBody>
      </p:sp>
    </p:spTree>
    <p:extLst>
      <p:ext uri="{BB962C8B-B14F-4D97-AF65-F5344CB8AC3E}">
        <p14:creationId xmlns:p14="http://schemas.microsoft.com/office/powerpoint/2010/main" val="1774266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99BE07-52A5-C466-53BD-E3BA3076088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A5B75FD-B5F6-0DB6-2CD8-8EA470AFB0E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4B6B16-B477-3FEF-C76C-0600DEDAF358}"/>
              </a:ext>
            </a:extLst>
          </p:cNvPr>
          <p:cNvSpPr>
            <a:spLocks noGrp="1"/>
          </p:cNvSpPr>
          <p:nvPr>
            <p:ph type="dt" sz="half" idx="10"/>
          </p:nvPr>
        </p:nvSpPr>
        <p:spPr/>
        <p:txBody>
          <a:bodyPr/>
          <a:lstStyle/>
          <a:p>
            <a:fld id="{2F09C9A7-9A88-EF48-BA8E-1C2C10DFF4C5}" type="datetimeFigureOut">
              <a:rPr lang="en-US" smtClean="0"/>
              <a:t>12/14/25</a:t>
            </a:fld>
            <a:endParaRPr lang="en-US"/>
          </a:p>
        </p:txBody>
      </p:sp>
      <p:sp>
        <p:nvSpPr>
          <p:cNvPr id="5" name="Footer Placeholder 4">
            <a:extLst>
              <a:ext uri="{FF2B5EF4-FFF2-40B4-BE49-F238E27FC236}">
                <a16:creationId xmlns:a16="http://schemas.microsoft.com/office/drawing/2014/main" id="{6E382356-5672-5519-23B2-7C9A5AB739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7E6B40-8B4D-3503-192D-112F68DE4748}"/>
              </a:ext>
            </a:extLst>
          </p:cNvPr>
          <p:cNvSpPr>
            <a:spLocks noGrp="1"/>
          </p:cNvSpPr>
          <p:nvPr>
            <p:ph type="sldNum" sz="quarter" idx="12"/>
          </p:nvPr>
        </p:nvSpPr>
        <p:spPr/>
        <p:txBody>
          <a:bodyPr/>
          <a:lstStyle/>
          <a:p>
            <a:fld id="{04D5ABDD-CA4E-0D4A-A737-5DB3A89FFA5D}" type="slidenum">
              <a:rPr lang="en-US" smtClean="0"/>
              <a:t>‹#›</a:t>
            </a:fld>
            <a:endParaRPr lang="en-US"/>
          </a:p>
        </p:txBody>
      </p:sp>
    </p:spTree>
    <p:extLst>
      <p:ext uri="{BB962C8B-B14F-4D97-AF65-F5344CB8AC3E}">
        <p14:creationId xmlns:p14="http://schemas.microsoft.com/office/powerpoint/2010/main" val="3807027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F566CD-3B3C-60DA-C8D6-87FEAE0BAA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5F322DB-4FD2-1329-AA97-1B40EEA166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64DF76-2E6C-699B-6224-174CC70273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F09C9A7-9A88-EF48-BA8E-1C2C10DFF4C5}" type="datetimeFigureOut">
              <a:rPr lang="en-US" smtClean="0"/>
              <a:t>12/14/25</a:t>
            </a:fld>
            <a:endParaRPr lang="en-US"/>
          </a:p>
        </p:txBody>
      </p:sp>
      <p:sp>
        <p:nvSpPr>
          <p:cNvPr id="5" name="Footer Placeholder 4">
            <a:extLst>
              <a:ext uri="{FF2B5EF4-FFF2-40B4-BE49-F238E27FC236}">
                <a16:creationId xmlns:a16="http://schemas.microsoft.com/office/drawing/2014/main" id="{6BE4873B-02A7-464D-2672-57B2EFC82A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5C69E92-8EE8-A565-6D11-12E063D11B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4D5ABDD-CA4E-0D4A-A737-5DB3A89FFA5D}" type="slidenum">
              <a:rPr lang="en-US" smtClean="0"/>
              <a:t>‹#›</a:t>
            </a:fld>
            <a:endParaRPr lang="en-US"/>
          </a:p>
        </p:txBody>
      </p:sp>
    </p:spTree>
    <p:extLst>
      <p:ext uri="{BB962C8B-B14F-4D97-AF65-F5344CB8AC3E}">
        <p14:creationId xmlns:p14="http://schemas.microsoft.com/office/powerpoint/2010/main" val="2647349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85BB0-3F35-7F1E-4E43-448BA40DFDBC}"/>
              </a:ext>
            </a:extLst>
          </p:cNvPr>
          <p:cNvSpPr>
            <a:spLocks noGrp="1"/>
          </p:cNvSpPr>
          <p:nvPr>
            <p:ph type="ctr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Optimizing Growing Degree Day Models to Forecast Rice Heading in California</a:t>
            </a:r>
          </a:p>
        </p:txBody>
      </p:sp>
      <p:sp>
        <p:nvSpPr>
          <p:cNvPr id="3" name="Subtitle 2">
            <a:extLst>
              <a:ext uri="{FF2B5EF4-FFF2-40B4-BE49-F238E27FC236}">
                <a16:creationId xmlns:a16="http://schemas.microsoft.com/office/drawing/2014/main" id="{A51AD767-8311-8B03-6DFD-29F19A8A0195}"/>
              </a:ext>
            </a:extLst>
          </p:cNvPr>
          <p:cNvSpPr>
            <a:spLocks noGrp="1"/>
          </p:cNvSpPr>
          <p:nvPr>
            <p:ph type="subTitle" idx="1"/>
          </p:nvPr>
        </p:nvSpPr>
        <p:spPr>
          <a:xfrm>
            <a:off x="1229710" y="4017963"/>
            <a:ext cx="9732579" cy="1655762"/>
          </a:xfrm>
        </p:spPr>
        <p:txBody>
          <a:bodyPr/>
          <a:lstStyle/>
          <a:p>
            <a:r>
              <a:rPr lang="en-US" dirty="0">
                <a:latin typeface="Times New Roman" panose="02020603050405020304" pitchFamily="18" charset="0"/>
                <a:cs typeface="Times New Roman" panose="02020603050405020304" pitchFamily="18" charset="0"/>
              </a:rPr>
              <a:t>Goal: To compare the prediction accuracy of temperature data sources</a:t>
            </a:r>
          </a:p>
          <a:p>
            <a:endParaRPr lang="en-US" dirty="0"/>
          </a:p>
        </p:txBody>
      </p:sp>
    </p:spTree>
    <p:extLst>
      <p:ext uri="{BB962C8B-B14F-4D97-AF65-F5344CB8AC3E}">
        <p14:creationId xmlns:p14="http://schemas.microsoft.com/office/powerpoint/2010/main" val="776696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03B00-2F35-461F-3AF3-7DE03549F4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2D40C6-7E05-70F2-5775-C393C570A3A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6FD7A11D-20FC-8910-D4DD-0FB1FDF5AC5F}"/>
              </a:ext>
            </a:extLst>
          </p:cNvPr>
          <p:cNvSpPr>
            <a:spLocks noGrp="1"/>
          </p:cNvSpPr>
          <p:nvPr>
            <p:ph idx="1"/>
          </p:nvPr>
        </p:nvSpPr>
        <p:spPr/>
        <p:txBody>
          <a:bodyPr>
            <a:normAutofit/>
          </a:bodyPr>
          <a:lstStyle/>
          <a:p>
            <a:pPr marL="514350" indent="-514350">
              <a:buAutoNum type="arabicPeriod"/>
            </a:pPr>
            <a:r>
              <a:rPr lang="en-US" dirty="0">
                <a:latin typeface="Times New Roman" panose="02020603050405020304" pitchFamily="18" charset="0"/>
                <a:cs typeface="Times New Roman" panose="02020603050405020304" pitchFamily="18" charset="0"/>
              </a:rPr>
              <a:t>Quantify the difference between PRISM satellite temperature grid and in-field sensors for daily minimum, maximum, and mean values across seasons. </a:t>
            </a:r>
          </a:p>
          <a:p>
            <a:pPr marL="514350" indent="-514350">
              <a:buFont typeface="Arial" panose="020B0604020202020204" pitchFamily="34" charset="0"/>
              <a:buAutoNum type="arabicPeriod"/>
            </a:pPr>
            <a:r>
              <a:rPr lang="en-US" dirty="0">
                <a:latin typeface="Times New Roman" panose="02020603050405020304" pitchFamily="18" charset="0"/>
                <a:cs typeface="Times New Roman" panose="02020603050405020304" pitchFamily="18" charset="0"/>
              </a:rPr>
              <a:t>Identify optimal thresholds for each temperature data source. </a:t>
            </a:r>
          </a:p>
          <a:p>
            <a:pPr marL="514350" indent="-514350">
              <a:buAutoNum type="arabicPeriod"/>
            </a:pPr>
            <a:r>
              <a:rPr lang="en-US" dirty="0">
                <a:latin typeface="Times New Roman" panose="02020603050405020304" pitchFamily="18" charset="0"/>
                <a:cs typeface="Times New Roman" panose="02020603050405020304" pitchFamily="18" charset="0"/>
              </a:rPr>
              <a:t>Track differences in GDD trajectories using modeled PRISM data versus in-field data through the season. </a:t>
            </a:r>
          </a:p>
          <a:p>
            <a:pPr marL="514350" indent="-514350">
              <a:buAutoNum type="arabicPeriod"/>
            </a:pPr>
            <a:r>
              <a:rPr lang="en-US" dirty="0">
                <a:latin typeface="Times New Roman" panose="02020603050405020304" pitchFamily="18" charset="0"/>
                <a:cs typeface="Times New Roman" panose="02020603050405020304" pitchFamily="18" charset="0"/>
              </a:rPr>
              <a:t>Offer temperature data source implementation guidance. </a:t>
            </a:r>
          </a:p>
        </p:txBody>
      </p:sp>
    </p:spTree>
    <p:extLst>
      <p:ext uri="{BB962C8B-B14F-4D97-AF65-F5344CB8AC3E}">
        <p14:creationId xmlns:p14="http://schemas.microsoft.com/office/powerpoint/2010/main" val="1971025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041318-6420-EA9B-81C7-2E61849EAF82}"/>
              </a:ext>
            </a:extLst>
          </p:cNvPr>
          <p:cNvPicPr>
            <a:picLocks noChangeAspect="1"/>
          </p:cNvPicPr>
          <p:nvPr/>
        </p:nvPicPr>
        <p:blipFill rotWithShape="1">
          <a:blip r:embed="rId2"/>
          <a:srcRect l="38484" t="35606" r="38449" b="34526"/>
          <a:stretch>
            <a:fillRect/>
          </a:stretch>
        </p:blipFill>
        <p:spPr bwMode="auto">
          <a:xfrm>
            <a:off x="2667476" y="-2867"/>
            <a:ext cx="6857048" cy="6860867"/>
          </a:xfrm>
          <a:prstGeom prst="rect">
            <a:avLst/>
          </a:prstGeom>
          <a:ln>
            <a:noFill/>
          </a:ln>
          <a:extLst>
            <a:ext uri="{53640926-AAD7-44D8-BBD7-CCE9431645EC}">
              <a14:shadowObscured xmlns:a14="http://schemas.microsoft.com/office/drawing/2010/main"/>
            </a:ext>
          </a:extLst>
        </p:spPr>
      </p:pic>
      <p:sp>
        <p:nvSpPr>
          <p:cNvPr id="6" name="TextBox 5">
            <a:extLst>
              <a:ext uri="{FF2B5EF4-FFF2-40B4-BE49-F238E27FC236}">
                <a16:creationId xmlns:a16="http://schemas.microsoft.com/office/drawing/2014/main" id="{42CB64A3-C5AD-EAAE-97AF-440A9D11AC11}"/>
              </a:ext>
            </a:extLst>
          </p:cNvPr>
          <p:cNvSpPr txBox="1"/>
          <p:nvPr/>
        </p:nvSpPr>
        <p:spPr>
          <a:xfrm>
            <a:off x="0" y="5657671"/>
            <a:ext cx="12192000" cy="1200329"/>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Figure 1 Study Area Map</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main rice growing region in Sacramento Valley, California, with counties, GPS coordinates of the general site locations, and PRISM 4-kilometer satellite temperature grid are represented. </a:t>
            </a:r>
          </a:p>
          <a:p>
            <a:endParaRPr lang="en-US" dirty="0"/>
          </a:p>
        </p:txBody>
      </p:sp>
    </p:spTree>
    <p:extLst>
      <p:ext uri="{BB962C8B-B14F-4D97-AF65-F5344CB8AC3E}">
        <p14:creationId xmlns:p14="http://schemas.microsoft.com/office/powerpoint/2010/main" val="1769331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F5EB1-D6A0-E447-D746-803B478C5B8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Method</a:t>
            </a:r>
          </a:p>
        </p:txBody>
      </p:sp>
      <p:sp>
        <p:nvSpPr>
          <p:cNvPr id="3" name="Content Placeholder 2">
            <a:extLst>
              <a:ext uri="{FF2B5EF4-FFF2-40B4-BE49-F238E27FC236}">
                <a16:creationId xmlns:a16="http://schemas.microsoft.com/office/drawing/2014/main" id="{DF362BC8-CEA9-11B4-9247-0019B3BE7726}"/>
              </a:ext>
            </a:extLst>
          </p:cNvPr>
          <p:cNvSpPr>
            <a:spLocks noGrp="1"/>
          </p:cNvSpPr>
          <p:nvPr>
            <p:ph idx="1"/>
          </p:nvPr>
        </p:nvSpPr>
        <p:spPr/>
        <p:txBody>
          <a:bodyPr>
            <a:normAutofit/>
          </a:bodyPr>
          <a:lstStyle/>
          <a:p>
            <a:pPr marL="514350" indent="-514350">
              <a:buAutoNum type="arabicPeriod"/>
            </a:pPr>
            <a:r>
              <a:rPr lang="en-US" dirty="0">
                <a:latin typeface="Times New Roman" panose="02020603050405020304" pitchFamily="18" charset="0"/>
                <a:cs typeface="Times New Roman" panose="02020603050405020304" pitchFamily="18" charset="0"/>
              </a:rPr>
              <a:t>Assembled daily temperatures and heading dates</a:t>
            </a:r>
          </a:p>
          <a:p>
            <a:pPr marL="514350" indent="-514350">
              <a:buAutoNum type="arabicPeriod"/>
            </a:pPr>
            <a:r>
              <a:rPr lang="en-US" dirty="0">
                <a:latin typeface="Times New Roman" panose="02020603050405020304" pitchFamily="18" charset="0"/>
                <a:cs typeface="Times New Roman" panose="02020603050405020304" pitchFamily="18" charset="0"/>
              </a:rPr>
              <a:t>Excluded predefined Location x Year rows </a:t>
            </a:r>
          </a:p>
          <a:p>
            <a:pPr marL="514350" indent="-514350">
              <a:buAutoNum type="arabicPeriod"/>
            </a:pPr>
            <a:r>
              <a:rPr lang="en-US" dirty="0">
                <a:latin typeface="Times New Roman" panose="02020603050405020304" pitchFamily="18" charset="0"/>
                <a:cs typeface="Times New Roman" panose="02020603050405020304" pitchFamily="18" charset="0"/>
              </a:rPr>
              <a:t>Quantified PRISM – Local temperature differences over Days After Planting (DAP)  </a:t>
            </a:r>
          </a:p>
          <a:p>
            <a:pPr marL="514350" indent="-514350">
              <a:buAutoNum type="arabicPeriod"/>
            </a:pPr>
            <a:r>
              <a:rPr lang="en-US" dirty="0">
                <a:latin typeface="Times New Roman" panose="02020603050405020304" pitchFamily="18" charset="0"/>
                <a:cs typeface="Times New Roman" panose="02020603050405020304" pitchFamily="18" charset="0"/>
              </a:rPr>
              <a:t>Stratified environments 70/20/10 split by Location x DTH into Train/Calibrate/Validate </a:t>
            </a:r>
          </a:p>
          <a:p>
            <a:pPr marL="514350" indent="-514350">
              <a:buAutoNum type="arabicPeriod"/>
            </a:pPr>
            <a:r>
              <a:rPr lang="en-US" dirty="0">
                <a:latin typeface="Times New Roman" panose="02020603050405020304" pitchFamily="18" charset="0"/>
                <a:cs typeface="Times New Roman" panose="02020603050405020304" pitchFamily="18" charset="0"/>
              </a:rPr>
              <a:t>Developed predictive models outputting observed versus predicted DTH with optimal temperature thresholds for PRISM and Local</a:t>
            </a:r>
          </a:p>
        </p:txBody>
      </p:sp>
    </p:spTree>
    <p:extLst>
      <p:ext uri="{BB962C8B-B14F-4D97-AF65-F5344CB8AC3E}">
        <p14:creationId xmlns:p14="http://schemas.microsoft.com/office/powerpoint/2010/main" val="3361797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90BE984-5808-3430-3047-B919611C2660}"/>
              </a:ext>
            </a:extLst>
          </p:cNvPr>
          <p:cNvSpPr txBox="1"/>
          <p:nvPr/>
        </p:nvSpPr>
        <p:spPr>
          <a:xfrm>
            <a:off x="4898571" y="2274838"/>
            <a:ext cx="7293429" cy="2031325"/>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Figure 2 PRISM – Local Temperature Differences (°C)</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Daily temperature curves averaged across nine seasons from 2016 to 2024 with minimum and maximum ranges. Panels show minimum, maximum, and mean temperature differences by Days After Planting (DAP). The dashed line at zero indicates no bias and can be used to visualize the PRISM – Local early season divergence and the seasonal evolution. </a:t>
            </a:r>
          </a:p>
          <a:p>
            <a:endParaRPr lang="en-US" dirty="0"/>
          </a:p>
        </p:txBody>
      </p:sp>
      <p:pic>
        <p:nvPicPr>
          <p:cNvPr id="7" name="Picture 6">
            <a:extLst>
              <a:ext uri="{FF2B5EF4-FFF2-40B4-BE49-F238E27FC236}">
                <a16:creationId xmlns:a16="http://schemas.microsoft.com/office/drawing/2014/main" id="{201C9FB4-E952-8B15-DA36-08CDD6EF8C76}"/>
              </a:ext>
            </a:extLst>
          </p:cNvPr>
          <p:cNvPicPr>
            <a:picLocks noChangeAspect="1"/>
          </p:cNvPicPr>
          <p:nvPr/>
        </p:nvPicPr>
        <p:blipFill>
          <a:blip r:embed="rId2"/>
          <a:stretch>
            <a:fillRect/>
          </a:stretch>
        </p:blipFill>
        <p:spPr>
          <a:xfrm>
            <a:off x="0" y="-1"/>
            <a:ext cx="4898571" cy="6858000"/>
          </a:xfrm>
          <a:prstGeom prst="rect">
            <a:avLst/>
          </a:prstGeom>
        </p:spPr>
      </p:pic>
    </p:spTree>
    <p:extLst>
      <p:ext uri="{BB962C8B-B14F-4D97-AF65-F5344CB8AC3E}">
        <p14:creationId xmlns:p14="http://schemas.microsoft.com/office/powerpoint/2010/main" val="950773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F5EB1-D6A0-E447-D746-803B478C5B8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Models Compared</a:t>
            </a:r>
          </a:p>
        </p:txBody>
      </p:sp>
      <p:sp>
        <p:nvSpPr>
          <p:cNvPr id="3" name="Content Placeholder 2">
            <a:extLst>
              <a:ext uri="{FF2B5EF4-FFF2-40B4-BE49-F238E27FC236}">
                <a16:creationId xmlns:a16="http://schemas.microsoft.com/office/drawing/2014/main" id="{DF362BC8-CEA9-11B4-9247-0019B3BE7726}"/>
              </a:ext>
            </a:extLst>
          </p:cNvPr>
          <p:cNvSpPr>
            <a:spLocks noGrp="1"/>
          </p:cNvSpPr>
          <p:nvPr>
            <p:ph idx="1"/>
          </p:nvPr>
        </p:nvSpPr>
        <p:spPr>
          <a:xfrm>
            <a:off x="838200" y="1825625"/>
            <a:ext cx="10515600" cy="4311015"/>
          </a:xfrm>
        </p:spPr>
        <p:txBody>
          <a:bodyPr/>
          <a:lstStyle/>
          <a:p>
            <a:pPr marL="514350" indent="-514350">
              <a:buAutoNum type="arabicPeriod"/>
            </a:pPr>
            <a:r>
              <a:rPr lang="en-US" dirty="0">
                <a:latin typeface="Times New Roman" panose="02020603050405020304" pitchFamily="18" charset="0"/>
                <a:cs typeface="Times New Roman" panose="02020603050405020304" pitchFamily="18" charset="0"/>
              </a:rPr>
              <a:t>Base only Tb = 7, 8, 9, or 10</a:t>
            </a:r>
          </a:p>
          <a:p>
            <a:pPr marL="514350" indent="-514350">
              <a:buAutoNum type="arabicPeriod"/>
            </a:pPr>
            <a:r>
              <a:rPr lang="en-US" dirty="0">
                <a:latin typeface="Times New Roman" panose="02020603050405020304" pitchFamily="18" charset="0"/>
                <a:cs typeface="Times New Roman" panose="02020603050405020304" pitchFamily="18" charset="0"/>
              </a:rPr>
              <a:t>OPT per variety </a:t>
            </a:r>
          </a:p>
          <a:p>
            <a:pPr marL="514350" indent="-514350">
              <a:buAutoNum type="arabicPeriod"/>
            </a:pPr>
            <a:r>
              <a:rPr lang="en-US" dirty="0">
                <a:latin typeface="Times New Roman" panose="02020603050405020304" pitchFamily="18" charset="0"/>
                <a:cs typeface="Times New Roman" panose="02020603050405020304" pitchFamily="18" charset="0"/>
              </a:rPr>
              <a:t>Universal Tl / Tu tuned</a:t>
            </a:r>
          </a:p>
          <a:p>
            <a:pPr marL="514350" indent="-514350">
              <a:buAutoNum type="arabicPeriod"/>
            </a:pPr>
            <a:r>
              <a:rPr lang="en-US" dirty="0">
                <a:latin typeface="Times New Roman" panose="02020603050405020304" pitchFamily="18" charset="0"/>
                <a:cs typeface="Times New Roman" panose="02020603050405020304" pitchFamily="18" charset="0"/>
              </a:rPr>
              <a:t>Universal Tl / Tu rounded</a:t>
            </a:r>
          </a:p>
          <a:p>
            <a:pPr marL="514350" indent="-514350">
              <a:buAutoNum type="arabicPeriod"/>
            </a:pPr>
            <a:endParaRPr lang="en-US" dirty="0"/>
          </a:p>
          <a:p>
            <a:pPr marL="514350" indent="-514350">
              <a:buAutoNum type="arabicPeriod"/>
            </a:pPr>
            <a:endParaRPr lang="en-US" dirty="0"/>
          </a:p>
          <a:p>
            <a:pPr marL="0" indent="0">
              <a:buNone/>
            </a:pPr>
            <a:r>
              <a:rPr lang="en-US" dirty="0"/>
              <a:t>	</a:t>
            </a:r>
          </a:p>
        </p:txBody>
      </p:sp>
      <p:pic>
        <p:nvPicPr>
          <p:cNvPr id="5" name="Picture 4" descr="A math equation with numbers and symbols&#10;&#10;AI-generated content may be incorrect.">
            <a:extLst>
              <a:ext uri="{FF2B5EF4-FFF2-40B4-BE49-F238E27FC236}">
                <a16:creationId xmlns:a16="http://schemas.microsoft.com/office/drawing/2014/main" id="{8C323244-BE2B-3E09-91C2-113E4A79453F}"/>
              </a:ext>
            </a:extLst>
          </p:cNvPr>
          <p:cNvPicPr>
            <a:picLocks noChangeAspect="1"/>
          </p:cNvPicPr>
          <p:nvPr/>
        </p:nvPicPr>
        <p:blipFill>
          <a:blip r:embed="rId2"/>
          <a:stretch>
            <a:fillRect/>
          </a:stretch>
        </p:blipFill>
        <p:spPr>
          <a:xfrm>
            <a:off x="2482913" y="3981132"/>
            <a:ext cx="7226173" cy="1383348"/>
          </a:xfrm>
          <a:prstGeom prst="rect">
            <a:avLst/>
          </a:prstGeom>
        </p:spPr>
      </p:pic>
      <p:pic>
        <p:nvPicPr>
          <p:cNvPr id="7" name="Picture 6">
            <a:extLst>
              <a:ext uri="{FF2B5EF4-FFF2-40B4-BE49-F238E27FC236}">
                <a16:creationId xmlns:a16="http://schemas.microsoft.com/office/drawing/2014/main" id="{8756D77A-2677-2429-923C-EACBEAE110D2}"/>
              </a:ext>
            </a:extLst>
          </p:cNvPr>
          <p:cNvPicPr>
            <a:picLocks noChangeAspect="1"/>
          </p:cNvPicPr>
          <p:nvPr/>
        </p:nvPicPr>
        <p:blipFill>
          <a:blip r:embed="rId3"/>
          <a:stretch>
            <a:fillRect/>
          </a:stretch>
        </p:blipFill>
        <p:spPr>
          <a:xfrm>
            <a:off x="1660555" y="5364480"/>
            <a:ext cx="8870887" cy="710364"/>
          </a:xfrm>
          <a:prstGeom prst="rect">
            <a:avLst/>
          </a:prstGeom>
        </p:spPr>
      </p:pic>
    </p:spTree>
    <p:extLst>
      <p:ext uri="{BB962C8B-B14F-4D97-AF65-F5344CB8AC3E}">
        <p14:creationId xmlns:p14="http://schemas.microsoft.com/office/powerpoint/2010/main" val="825471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F5EB1-D6A0-E447-D746-803B478C5B8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Model optimization</a:t>
            </a:r>
          </a:p>
        </p:txBody>
      </p:sp>
      <p:sp>
        <p:nvSpPr>
          <p:cNvPr id="3" name="Content Placeholder 2">
            <a:extLst>
              <a:ext uri="{FF2B5EF4-FFF2-40B4-BE49-F238E27FC236}">
                <a16:creationId xmlns:a16="http://schemas.microsoft.com/office/drawing/2014/main" id="{DF362BC8-CEA9-11B4-9247-0019B3BE7726}"/>
              </a:ext>
            </a:extLst>
          </p:cNvPr>
          <p:cNvSpPr>
            <a:spLocks noGrp="1"/>
          </p:cNvSpPr>
          <p:nvPr>
            <p:ph idx="1"/>
          </p:nvPr>
        </p:nvSpPr>
        <p:spPr/>
        <p:txBody>
          <a:bodyPr>
            <a:normAutofit/>
          </a:bodyPr>
          <a:lstStyle/>
          <a:p>
            <a:pPr marL="514350" indent="-514350">
              <a:buAutoNum type="arabicPeriod"/>
            </a:pPr>
            <a:r>
              <a:rPr lang="en-US" dirty="0">
                <a:latin typeface="Times New Roman" panose="02020603050405020304" pitchFamily="18" charset="0"/>
                <a:cs typeface="Times New Roman" panose="02020603050405020304" pitchFamily="18" charset="0"/>
              </a:rPr>
              <a:t>Threshold estimation obtained from Training environments on required GDD to heading (Tb: 7-10, Tl: 8-18, Tu: 30-45) using 5-fold cross-validation (fit on 4 folds and test on 5</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a:t>
            </a:r>
          </a:p>
          <a:p>
            <a:pPr marL="514350" indent="-514350">
              <a:buAutoNum type="arabicPeriod"/>
            </a:pPr>
            <a:r>
              <a:rPr lang="en-US" dirty="0">
                <a:latin typeface="Times New Roman" panose="02020603050405020304" pitchFamily="18" charset="0"/>
                <a:cs typeface="Times New Roman" panose="02020603050405020304" pitchFamily="18" charset="0"/>
              </a:rPr>
              <a:t>Optimal model selected from Calibration environments based on RMSE and Bias metrics</a:t>
            </a:r>
          </a:p>
          <a:p>
            <a:pPr marL="514350" indent="-514350">
              <a:buAutoNum type="arabicPeriod"/>
            </a:pPr>
            <a:r>
              <a:rPr lang="en-US" dirty="0">
                <a:latin typeface="Times New Roman" panose="02020603050405020304" pitchFamily="18" charset="0"/>
                <a:cs typeface="Times New Roman" panose="02020603050405020304" pitchFamily="18" charset="0"/>
              </a:rPr>
              <a:t>Performance reported on Validation environments to confirm best fit was made</a:t>
            </a:r>
          </a:p>
          <a:p>
            <a:pPr marL="514350" indent="-514350">
              <a:buAutoNum type="arabicPeriod"/>
            </a:pPr>
            <a:r>
              <a:rPr lang="en-US" dirty="0">
                <a:latin typeface="Times New Roman" panose="02020603050405020304" pitchFamily="18" charset="0"/>
                <a:cs typeface="Times New Roman" panose="02020603050405020304" pitchFamily="18" charset="0"/>
              </a:rPr>
              <a:t>Compare PRISM and Local model accuracy across 5 seeds</a:t>
            </a:r>
          </a:p>
        </p:txBody>
      </p:sp>
    </p:spTree>
    <p:extLst>
      <p:ext uri="{BB962C8B-B14F-4D97-AF65-F5344CB8AC3E}">
        <p14:creationId xmlns:p14="http://schemas.microsoft.com/office/powerpoint/2010/main" val="3399014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86FD6F8-E290-0A87-1F2B-7BE1B3018672}"/>
              </a:ext>
            </a:extLst>
          </p:cNvPr>
          <p:cNvSpPr txBox="1"/>
          <p:nvPr/>
        </p:nvSpPr>
        <p:spPr>
          <a:xfrm>
            <a:off x="1" y="5029200"/>
            <a:ext cx="12192000" cy="92333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Figure 3 Observed versus Predicted DTH Validation Results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Side-by-side panels compare models of Local with Tl = 11°C, Tu = 34°C, and Tb = 7°C and PRISM with Tl = 12°C, Tu = 33°C, and Tb = 7°C. Each point is a Variety x Location x Year observation within the 5 pooled seeds. </a:t>
            </a:r>
          </a:p>
        </p:txBody>
      </p:sp>
      <p:pic>
        <p:nvPicPr>
          <p:cNvPr id="8" name="Picture 7">
            <a:extLst>
              <a:ext uri="{FF2B5EF4-FFF2-40B4-BE49-F238E27FC236}">
                <a16:creationId xmlns:a16="http://schemas.microsoft.com/office/drawing/2014/main" id="{B947E76C-F6DA-B8F3-3209-1BC832D263EB}"/>
              </a:ext>
            </a:extLst>
          </p:cNvPr>
          <p:cNvPicPr>
            <a:picLocks noChangeAspect="1"/>
          </p:cNvPicPr>
          <p:nvPr/>
        </p:nvPicPr>
        <p:blipFill>
          <a:blip r:embed="rId3"/>
          <a:stretch>
            <a:fillRect/>
          </a:stretch>
        </p:blipFill>
        <p:spPr>
          <a:xfrm>
            <a:off x="2209800" y="0"/>
            <a:ext cx="7772400" cy="5029200"/>
          </a:xfrm>
          <a:prstGeom prst="rect">
            <a:avLst/>
          </a:prstGeom>
        </p:spPr>
      </p:pic>
    </p:spTree>
    <p:extLst>
      <p:ext uri="{BB962C8B-B14F-4D97-AF65-F5344CB8AC3E}">
        <p14:creationId xmlns:p14="http://schemas.microsoft.com/office/powerpoint/2010/main" val="551001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E09B2-9E59-ACDA-5437-AA29D1599A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3DB88C-0BE2-661D-9C7C-91A71B80C8F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Data source comparison</a:t>
            </a:r>
          </a:p>
        </p:txBody>
      </p:sp>
      <p:sp>
        <p:nvSpPr>
          <p:cNvPr id="3" name="Content Placeholder 2">
            <a:extLst>
              <a:ext uri="{FF2B5EF4-FFF2-40B4-BE49-F238E27FC236}">
                <a16:creationId xmlns:a16="http://schemas.microsoft.com/office/drawing/2014/main" id="{A24D0079-99CE-2235-3090-95B6CE649FCB}"/>
              </a:ext>
            </a:extLst>
          </p:cNvPr>
          <p:cNvSpPr>
            <a:spLocks noGrp="1"/>
          </p:cNvSpPr>
          <p:nvPr>
            <p:ph idx="1"/>
          </p:nvPr>
        </p:nvSpPr>
        <p:spPr/>
        <p:txBody>
          <a:bodyPr>
            <a:normAutofit/>
          </a:bodyPr>
          <a:lstStyle/>
          <a:p>
            <a:pPr marL="514350" indent="-514350">
              <a:buAutoNum type="arabicPeriod"/>
            </a:pPr>
            <a:r>
              <a:rPr lang="en-US" dirty="0">
                <a:latin typeface="Times New Roman" panose="02020603050405020304" pitchFamily="18" charset="0"/>
                <a:cs typeface="Times New Roman" panose="02020603050405020304" pitchFamily="18" charset="0"/>
              </a:rPr>
              <a:t>GDD calculated for each source’s optimal thresholds: </a:t>
            </a:r>
          </a:p>
          <a:p>
            <a:pPr algn="ctr">
              <a:buFontTx/>
              <a:buChar char="-"/>
            </a:pPr>
            <a:r>
              <a:rPr lang="en-US" dirty="0">
                <a:latin typeface="Times New Roman" panose="02020603050405020304" pitchFamily="18" charset="0"/>
                <a:cs typeface="Times New Roman" panose="02020603050405020304" pitchFamily="18" charset="0"/>
              </a:rPr>
              <a:t>Local with Tl = 11°C, Tu = 34°C, and Tb = 7°C </a:t>
            </a:r>
          </a:p>
          <a:p>
            <a:pPr algn="ctr">
              <a:buFontTx/>
              <a:buChar char="-"/>
            </a:pPr>
            <a:r>
              <a:rPr lang="en-US" dirty="0">
                <a:latin typeface="Times New Roman" panose="02020603050405020304" pitchFamily="18" charset="0"/>
                <a:cs typeface="Times New Roman" panose="02020603050405020304" pitchFamily="18" charset="0"/>
              </a:rPr>
              <a:t>PRISM with Tl = 12°C,  Tu = 33°C, and Tb = 7°C</a:t>
            </a:r>
          </a:p>
          <a:p>
            <a:pPr marL="0" indent="0">
              <a:buNone/>
            </a:pPr>
            <a:endParaRPr lang="en-US" dirty="0">
              <a:latin typeface="Times New Roman" panose="02020603050405020304" pitchFamily="18" charset="0"/>
              <a:cs typeface="Times New Roman" panose="02020603050405020304" pitchFamily="18" charset="0"/>
            </a:endParaRPr>
          </a:p>
          <a:p>
            <a:pPr marL="514350" indent="-514350">
              <a:buAutoNum type="arabicPeriod" startAt="2"/>
            </a:pPr>
            <a:r>
              <a:rPr lang="en-US" dirty="0">
                <a:latin typeface="Times New Roman" panose="02020603050405020304" pitchFamily="18" charset="0"/>
                <a:cs typeface="Times New Roman" panose="02020603050405020304" pitchFamily="18" charset="0"/>
              </a:rPr>
              <a:t>All environments summarized by mean GDD on DAP</a:t>
            </a:r>
          </a:p>
          <a:p>
            <a:pPr marL="514350" indent="-514350">
              <a:buAutoNum type="arabicPeriod" startAt="2"/>
            </a:pPr>
            <a:endParaRPr lang="en-US" dirty="0">
              <a:latin typeface="Times New Roman" panose="02020603050405020304" pitchFamily="18" charset="0"/>
              <a:cs typeface="Times New Roman" panose="02020603050405020304" pitchFamily="18" charset="0"/>
            </a:endParaRPr>
          </a:p>
          <a:p>
            <a:pPr marL="514350" indent="-514350">
              <a:buAutoNum type="arabicPeriod" startAt="2"/>
            </a:pPr>
            <a:r>
              <a:rPr lang="en-US" dirty="0">
                <a:latin typeface="Times New Roman" panose="02020603050405020304" pitchFamily="18" charset="0"/>
                <a:cs typeface="Times New Roman" panose="02020603050405020304" pitchFamily="18" charset="0"/>
              </a:rPr>
              <a:t>Cumulative curves created for visual representation of differences throughout the season</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368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2D241BC-2AD2-B8A2-2C73-782B681A5B00}"/>
              </a:ext>
            </a:extLst>
          </p:cNvPr>
          <p:cNvSpPr txBox="1"/>
          <p:nvPr/>
        </p:nvSpPr>
        <p:spPr>
          <a:xfrm>
            <a:off x="200025" y="5743575"/>
            <a:ext cx="11991975" cy="92333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Figure 4 Average Cumulative GDD versus DAP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Mean cumulative Growing Degree Days (GDD) across all environments versus Days After Planting (DAP) with minimum and maximum ranges shown as well as the mean heading date represented by the vertical dotted line.  </a:t>
            </a:r>
          </a:p>
        </p:txBody>
      </p:sp>
      <p:pic>
        <p:nvPicPr>
          <p:cNvPr id="8" name="Picture 7">
            <a:extLst>
              <a:ext uri="{FF2B5EF4-FFF2-40B4-BE49-F238E27FC236}">
                <a16:creationId xmlns:a16="http://schemas.microsoft.com/office/drawing/2014/main" id="{80C6A60E-F177-36DA-0D59-9389A32E7916}"/>
              </a:ext>
            </a:extLst>
          </p:cNvPr>
          <p:cNvPicPr>
            <a:picLocks noChangeAspect="1"/>
          </p:cNvPicPr>
          <p:nvPr/>
        </p:nvPicPr>
        <p:blipFill>
          <a:blip r:embed="rId2"/>
          <a:stretch>
            <a:fillRect/>
          </a:stretch>
        </p:blipFill>
        <p:spPr>
          <a:xfrm>
            <a:off x="2209800" y="871700"/>
            <a:ext cx="7772400" cy="4871875"/>
          </a:xfrm>
          <a:prstGeom prst="rect">
            <a:avLst/>
          </a:prstGeom>
        </p:spPr>
      </p:pic>
    </p:spTree>
    <p:extLst>
      <p:ext uri="{BB962C8B-B14F-4D97-AF65-F5344CB8AC3E}">
        <p14:creationId xmlns:p14="http://schemas.microsoft.com/office/powerpoint/2010/main" val="3537803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FC2CC07-BDA6-FE60-44D3-D0822432CEDD}"/>
              </a:ext>
            </a:extLst>
          </p:cNvPr>
          <p:cNvSpPr txBox="1"/>
          <p:nvPr/>
        </p:nvSpPr>
        <p:spPr>
          <a:xfrm>
            <a:off x="0" y="4871875"/>
            <a:ext cx="12192000" cy="1477328"/>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Figure 5 Cumulative GDD Change PRISM – Local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Mean difference in accumulated Growing Degree Days (°</a:t>
            </a:r>
            <a:r>
              <a:rPr lang="en-US" dirty="0" err="1">
                <a:latin typeface="Times New Roman" panose="02020603050405020304" pitchFamily="18" charset="0"/>
                <a:cs typeface="Times New Roman" panose="02020603050405020304" pitchFamily="18" charset="0"/>
              </a:rPr>
              <a:t>C·d</a:t>
            </a:r>
            <a:r>
              <a:rPr lang="en-US" dirty="0">
                <a:latin typeface="Times New Roman" panose="02020603050405020304" pitchFamily="18" charset="0"/>
                <a:cs typeface="Times New Roman" panose="02020603050405020304" pitchFamily="18" charset="0"/>
              </a:rPr>
              <a:t>) PRISM – Local temperature series plotted by Days After Planting (DAP). Values above zero indicate PRISM is accumulating GDD faster than Local and values above zero indicate Local is accumulating GDD faster than PRISM. The horizontal dashed line marks zero difference and the vertical dashed line marks the overall mean heading date. This view quantifies how the two sources diverge over the course of the season. </a:t>
            </a:r>
          </a:p>
        </p:txBody>
      </p:sp>
      <p:pic>
        <p:nvPicPr>
          <p:cNvPr id="8" name="Picture 7">
            <a:extLst>
              <a:ext uri="{FF2B5EF4-FFF2-40B4-BE49-F238E27FC236}">
                <a16:creationId xmlns:a16="http://schemas.microsoft.com/office/drawing/2014/main" id="{E01DB292-7745-0F89-FC3F-CA0934C725C5}"/>
              </a:ext>
            </a:extLst>
          </p:cNvPr>
          <p:cNvPicPr>
            <a:picLocks noChangeAspect="1"/>
          </p:cNvPicPr>
          <p:nvPr/>
        </p:nvPicPr>
        <p:blipFill>
          <a:blip r:embed="rId2"/>
          <a:stretch>
            <a:fillRect/>
          </a:stretch>
        </p:blipFill>
        <p:spPr>
          <a:xfrm>
            <a:off x="2209800" y="0"/>
            <a:ext cx="7772400" cy="4871875"/>
          </a:xfrm>
          <a:prstGeom prst="rect">
            <a:avLst/>
          </a:prstGeom>
        </p:spPr>
      </p:pic>
    </p:spTree>
    <p:extLst>
      <p:ext uri="{BB962C8B-B14F-4D97-AF65-F5344CB8AC3E}">
        <p14:creationId xmlns:p14="http://schemas.microsoft.com/office/powerpoint/2010/main" val="471087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8B2ED0A-2AA8-F072-2AE2-525385C6143F}"/>
              </a:ext>
            </a:extLst>
          </p:cNvPr>
          <p:cNvSpPr txBox="1"/>
          <p:nvPr/>
        </p:nvSpPr>
        <p:spPr>
          <a:xfrm>
            <a:off x="0" y="5103674"/>
            <a:ext cx="12192000" cy="1477328"/>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Figure 6 Box and Whisker Plot of GDD to Heading by Variety </a:t>
            </a:r>
          </a:p>
          <a:p>
            <a:r>
              <a:rPr lang="en-US" dirty="0">
                <a:latin typeface="Times New Roman" panose="02020603050405020304" pitchFamily="18" charset="0"/>
                <a:cs typeface="Times New Roman" panose="02020603050405020304" pitchFamily="18" charset="0"/>
              </a:rPr>
              <a:t>GDD at the 50% heading growth stage for individual Calrose medium grain California varieties, summarized as grouped boxplots, where each point represents a season’s mean and error bars indicate the minimum and maximum values across seasons. PRISM temperature data shows a much closer GDD at heading range than the local temperature sensors. </a:t>
            </a:r>
          </a:p>
          <a:p>
            <a:endParaRPr lang="en-US" dirty="0"/>
          </a:p>
        </p:txBody>
      </p:sp>
      <p:pic>
        <p:nvPicPr>
          <p:cNvPr id="8" name="Picture 7">
            <a:extLst>
              <a:ext uri="{FF2B5EF4-FFF2-40B4-BE49-F238E27FC236}">
                <a16:creationId xmlns:a16="http://schemas.microsoft.com/office/drawing/2014/main" id="{49D9950D-613B-0E0B-AE40-780EB8F96029}"/>
              </a:ext>
            </a:extLst>
          </p:cNvPr>
          <p:cNvPicPr>
            <a:picLocks noChangeAspect="1"/>
          </p:cNvPicPr>
          <p:nvPr/>
        </p:nvPicPr>
        <p:blipFill>
          <a:blip r:embed="rId2"/>
          <a:stretch>
            <a:fillRect/>
          </a:stretch>
        </p:blipFill>
        <p:spPr>
          <a:xfrm>
            <a:off x="2209800" y="0"/>
            <a:ext cx="7772400" cy="5027385"/>
          </a:xfrm>
          <a:prstGeom prst="rect">
            <a:avLst/>
          </a:prstGeom>
        </p:spPr>
      </p:pic>
    </p:spTree>
    <p:extLst>
      <p:ext uri="{BB962C8B-B14F-4D97-AF65-F5344CB8AC3E}">
        <p14:creationId xmlns:p14="http://schemas.microsoft.com/office/powerpoint/2010/main" val="27284278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A9453-A516-220F-4363-71FC7B1189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0C7983-B1AE-6418-C1F4-296FCA6BB52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Key takeaways</a:t>
            </a:r>
          </a:p>
        </p:txBody>
      </p:sp>
      <p:sp>
        <p:nvSpPr>
          <p:cNvPr id="3" name="Content Placeholder 2">
            <a:extLst>
              <a:ext uri="{FF2B5EF4-FFF2-40B4-BE49-F238E27FC236}">
                <a16:creationId xmlns:a16="http://schemas.microsoft.com/office/drawing/2014/main" id="{E9EF503A-575B-3C75-07F4-76C0C46E391C}"/>
              </a:ext>
            </a:extLst>
          </p:cNvPr>
          <p:cNvSpPr>
            <a:spLocks noGrp="1"/>
          </p:cNvSpPr>
          <p:nvPr>
            <p:ph idx="1"/>
          </p:nvPr>
        </p:nvSpPr>
        <p:spPr/>
        <p:txBody>
          <a:bodyPr>
            <a:normAutofit/>
          </a:bodyPr>
          <a:lstStyle/>
          <a:p>
            <a:pPr marL="514350" indent="-514350">
              <a:buAutoNum type="arabicPeriod"/>
            </a:pPr>
            <a:r>
              <a:rPr lang="en-US" dirty="0">
                <a:latin typeface="Times New Roman" panose="02020603050405020304" pitchFamily="18" charset="0"/>
                <a:cs typeface="Times New Roman" panose="02020603050405020304" pitchFamily="18" charset="0"/>
              </a:rPr>
              <a:t>Temperature differences exist and change in association early to late season. </a:t>
            </a:r>
          </a:p>
          <a:p>
            <a:pPr marL="514350" indent="-514350">
              <a:buAutoNum type="arabicPeriod"/>
            </a:pPr>
            <a:r>
              <a:rPr lang="en-US" dirty="0">
                <a:latin typeface="Times New Roman" panose="02020603050405020304" pitchFamily="18" charset="0"/>
                <a:cs typeface="Times New Roman" panose="02020603050405020304" pitchFamily="18" charset="0"/>
              </a:rPr>
              <a:t>Using optimal temperature thresholds for each data source makes them track closely throughout the season increasing prediction accuracy. </a:t>
            </a:r>
          </a:p>
          <a:p>
            <a:pPr marL="514350" indent="-514350">
              <a:buAutoNum type="arabicPeriod"/>
            </a:pPr>
            <a:r>
              <a:rPr lang="en-US" dirty="0">
                <a:latin typeface="Times New Roman" panose="02020603050405020304" pitchFamily="18" charset="0"/>
                <a:cs typeface="Times New Roman" panose="02020603050405020304" pitchFamily="18" charset="0"/>
              </a:rPr>
              <a:t>If using models early or late season then the source you are using matters whereas mid season both correlate. </a:t>
            </a:r>
          </a:p>
          <a:p>
            <a:pPr marL="514350" indent="-514350">
              <a:buAutoNum type="arabicPeriod"/>
            </a:pPr>
            <a:r>
              <a:rPr lang="en-US" dirty="0">
                <a:latin typeface="Times New Roman" panose="02020603050405020304" pitchFamily="18" charset="0"/>
                <a:cs typeface="Times New Roman" panose="02020603050405020304" pitchFamily="18" charset="0"/>
              </a:rPr>
              <a:t>Source choice should be based upon availability, access, and amount of complexity the user is comfortable with. </a:t>
            </a:r>
          </a:p>
        </p:txBody>
      </p:sp>
    </p:spTree>
    <p:extLst>
      <p:ext uri="{BB962C8B-B14F-4D97-AF65-F5344CB8AC3E}">
        <p14:creationId xmlns:p14="http://schemas.microsoft.com/office/powerpoint/2010/main" val="42584730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636</TotalTime>
  <Words>759</Words>
  <Application>Microsoft Macintosh PowerPoint</Application>
  <PresentationFormat>Widescreen</PresentationFormat>
  <Paragraphs>52</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Times New Roman</vt:lpstr>
      <vt:lpstr>Office Theme</vt:lpstr>
      <vt:lpstr>Optimizing Growing Degree Day Models to Forecast Rice Heading in California</vt:lpstr>
      <vt:lpstr>Objectives</vt:lpstr>
      <vt:lpstr>PowerPoint Presentation</vt:lpstr>
      <vt:lpstr>Method</vt:lpstr>
      <vt:lpstr>PowerPoint Presentation</vt:lpstr>
      <vt:lpstr>Models Compared</vt:lpstr>
      <vt:lpstr>Model optimization</vt:lpstr>
      <vt:lpstr>PowerPoint Presentation</vt:lpstr>
      <vt:lpstr>Data source comparison</vt:lpstr>
      <vt:lpstr>PowerPoint Presentation</vt:lpstr>
      <vt:lpstr>PowerPoint Presentation</vt:lpstr>
      <vt:lpstr>PowerPoint Presentation</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Lewis Edgar Daniel</dc:creator>
  <cp:lastModifiedBy>Lewis Edgar Daniel</cp:lastModifiedBy>
  <cp:revision>27</cp:revision>
  <dcterms:created xsi:type="dcterms:W3CDTF">2025-12-14T20:35:34Z</dcterms:created>
  <dcterms:modified xsi:type="dcterms:W3CDTF">2025-12-15T07:12:16Z</dcterms:modified>
</cp:coreProperties>
</file>